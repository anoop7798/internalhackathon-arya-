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  <ns0:embeddedFont>
      <ns0:font typeface="Space Grotesk"/>
      <ns0:bold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2a2cb181-e6fa-448b-954e-fc725b6d3072.fntdata" /><ns0:Relationship Id="rIdFont21" Type="http://schemas.openxmlformats.org/officeDocument/2006/relationships/font" Target="fonts/19504866-861e-4b5b-99b9-34ba8a6b38e5.fntdata" /><ns0:Relationship Id="rIdFont22" Type="http://schemas.openxmlformats.org/officeDocument/2006/relationships/font" Target="fonts/9e21cb52-d033-49bd-b9ad-f61c9dc68c9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598640"/>
            <a:ext cx="10668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802159"/>
            <a:ext cx="695325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59864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879627"/>
            <a:ext cx="1714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275" y="4879627"/>
            <a:ext cx="1524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4879627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2316509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Space Grotesk"/>
              </a:rPr>
              <a:t>Sales Forecasting &amp; Business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646140"/>
            <a:ext cx="6953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End-to-end historical sales analytics, regional performance evaluation, and predictive demand estimation using linear regression.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1859309"/>
            <a:ext cx="523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Space Grotesk"/>
              </a:rPr>
              <a:t>PS-03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1625" y="1845022"/>
            <a:ext cx="3798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Plus Jakarta Sans"/>
              </a:rPr>
              <a:t>RETAIL ANALYTICS &amp;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4874865"/>
            <a:ext cx="2512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Predictive Demand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0925" y="4874865"/>
            <a:ext cx="21788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Automated Data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0" y="4874865"/>
            <a:ext cx="1976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Actionable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59273"/>
            <a:ext cx="2571750" cy="2238375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759273"/>
            <a:ext cx="2571750" cy="2238375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759273"/>
            <a:ext cx="2571750" cy="2238375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759273"/>
            <a:ext cx="2571750" cy="2238375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35498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75" y="3035498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3035498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75" y="3035498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3140273"/>
            <a:ext cx="1905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25" y="3140273"/>
            <a:ext cx="1905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7487" y="3140273"/>
            <a:ext cx="2190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1175" y="3140273"/>
            <a:ext cx="1524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BUSINESS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Problem Statement &amp;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568898"/>
            <a:ext cx="26503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Real-World Scenario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864173"/>
            <a:ext cx="21145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Retailer tracks product transactions, regional sales, prices, and volumes across historical timelines.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6175" y="3568898"/>
            <a:ext cx="26503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6175" y="3864173"/>
            <a:ext cx="21145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Accurate trend analysis optimizes inventory stock, minimizes carrying costs, and boosts margins.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6525" y="3568898"/>
            <a:ext cx="26503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Target Stakeholders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525" y="3864173"/>
            <a:ext cx="21145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Retail executives, supply chain teams, inventory planners, and commercial data analysts.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6875" y="3568898"/>
            <a:ext cx="26503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Expected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6875" y="3864173"/>
            <a:ext cx="21145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Integrated analytics engine delivering historical clarity and dynamic future demand estimates.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97348"/>
            <a:ext cx="3505200" cy="2562225"/>
          </a:xfrm>
          <a:prstGeom prst="roundRect">
            <a:avLst>
              <a:gd name="adj" fmla="val 44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597348"/>
            <a:ext cx="3505200" cy="2562225"/>
          </a:xfrm>
          <a:prstGeom prst="roundRect">
            <a:avLst>
              <a:gd name="adj" fmla="val 44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597348"/>
            <a:ext cx="3505200" cy="2562225"/>
          </a:xfrm>
          <a:prstGeom prst="roundRect">
            <a:avLst>
              <a:gd name="adj" fmla="val 44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597348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2597348"/>
            <a:ext cx="35052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597348"/>
            <a:ext cx="35052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606998"/>
            <a:ext cx="1238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4064198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4521398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606998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4064198"/>
            <a:ext cx="1238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4521398"/>
            <a:ext cx="1238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606998"/>
            <a:ext cx="12382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4064198"/>
            <a:ext cx="1238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4521398"/>
            <a:ext cx="123825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PROJECT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Core Objectives &amp; Solution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2940248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PILLAR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3225998"/>
            <a:ext cx="39004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Historical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0100" y="2940248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PILLAR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0100" y="3225998"/>
            <a:ext cx="39004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Predictive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3900" y="2940248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C3AED"/>
                </a:solidFill>
                <a:latin typeface="Plus Jakarta Sans"/>
              </a:rPr>
              <a:t>PILLAR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3900" y="3225998"/>
            <a:ext cx="38481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Business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3578423"/>
            <a:ext cx="3067050" cy="3619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Revenue Computation: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Quantity × Price calculation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300" y="4035623"/>
            <a:ext cx="3067050" cy="3619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Aggregations: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Product and regional breakdowns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" y="4492823"/>
            <a:ext cx="3067050" cy="3619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Trend Tracking: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Monthly revenue velocity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0100" y="3578423"/>
            <a:ext cx="3067050" cy="3619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Linear Regression: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Scikit-learn implementation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0100" y="4035623"/>
            <a:ext cx="3067050" cy="3619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Dynamic Horizon: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User-defined month forecasting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0100" y="4492823"/>
            <a:ext cx="3067050" cy="3619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Safety Floor: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Non-negative truncation protection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3900" y="3578423"/>
            <a:ext cx="3067050" cy="3619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Top Performers: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Identification of key products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3900" y="4035623"/>
            <a:ext cx="3067050" cy="3619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Regional Growth: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Regional market leaders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3900" y="4492823"/>
            <a:ext cx="3067050" cy="3619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Visual Dashboards: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Matplotlib chart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5115"/>
            <a:ext cx="2443162" cy="1626691"/>
          </a:xfrm>
          <a:prstGeom prst="roundRect">
            <a:avLst>
              <a:gd name="adj" fmla="val 58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52812" y="3065115"/>
            <a:ext cx="2443162" cy="1626691"/>
          </a:xfrm>
          <a:prstGeom prst="roundRect">
            <a:avLst>
              <a:gd name="adj" fmla="val 58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96025" y="3065115"/>
            <a:ext cx="2443162" cy="1626691"/>
          </a:xfrm>
          <a:prstGeom prst="roundRect">
            <a:avLst>
              <a:gd name="adj" fmla="val 58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39237" y="3065115"/>
            <a:ext cx="2443162" cy="1626691"/>
          </a:xfrm>
          <a:prstGeom prst="roundRect">
            <a:avLst>
              <a:gd name="adj" fmla="val 58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3312765"/>
            <a:ext cx="581025" cy="219075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90937" y="3312765"/>
            <a:ext cx="600075" cy="219075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34150" y="3312765"/>
            <a:ext cx="600075" cy="219075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77362" y="3312765"/>
            <a:ext cx="609600" cy="219075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3802260"/>
            <a:ext cx="952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5" y="3802260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587" y="3802260"/>
            <a:ext cx="9525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SYSTEM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End-to-End Analytics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350865"/>
            <a:ext cx="523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STEP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617565"/>
            <a:ext cx="258157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Data 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893790"/>
            <a:ext cx="2062162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Load CSV dataset using Pandas and parse date strings to DateTime objects.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137" y="3350865"/>
            <a:ext cx="5429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0937" y="3617565"/>
            <a:ext cx="258157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0937" y="3893790"/>
            <a:ext cx="2062162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Derive total sales and index time periods sequentially for regression fitting.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0350" y="3350865"/>
            <a:ext cx="5429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STEP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150" y="3617565"/>
            <a:ext cx="258157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Model Fitting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150" y="3893790"/>
            <a:ext cx="2062162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Train Scikit-Learn Linear Regression model on historical month indices.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3562" y="3350865"/>
            <a:ext cx="552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STEP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7362" y="3617565"/>
            <a:ext cx="258157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Demand Forecasting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7362" y="3893790"/>
            <a:ext cx="2062162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Predict future periods with floor limits and generate visual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57850"/>
            <a:ext cx="10972800" cy="742950"/>
          </a:xfrm>
          <a:prstGeom prst="roundRect">
            <a:avLst>
              <a:gd name="adj" fmla="val 1282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40185"/>
            <a:ext cx="3454449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8849" y="2440185"/>
            <a:ext cx="3454449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8099" y="2440185"/>
            <a:ext cx="3454449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924550"/>
            <a:ext cx="16192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487" y="3811785"/>
            <a:ext cx="152400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EXECUTIVE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Overall Commercial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5829300"/>
            <a:ext cx="102965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1E40AF"/>
                </a:solidFill>
                <a:latin typeface="Plus Jakarta Sans"/>
              </a:rPr>
              <a:t>Executive Takeaway:</a:t>
            </a:r>
            <a:r>
              <a:rPr b="0" sz="1125" i="0" u="none">
                <a:solidFill>
                  <a:srgbClr val="1E40AF"/>
                </a:solidFill>
                <a:latin typeface="Plus Jakarta Sans"/>
              </a:rPr>
              <a:t> Sales performance demonstrates steady upward momentum driven by consistent transactional volume across core operational channels.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325" y="2792610"/>
            <a:ext cx="34369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64748B"/>
                </a:solidFill>
                <a:latin typeface="Plus Jakarta Sans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25" y="3087885"/>
            <a:ext cx="3436999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2563EB"/>
                </a:solidFill>
                <a:latin typeface="Space Grotesk"/>
              </a:rPr>
              <a:t>$248,500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325" y="3783210"/>
            <a:ext cx="3436999" cy="171450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59669"/>
                </a:solidFill>
                <a:latin typeface="Plus Jakarta Sans"/>
              </a:rPr>
              <a:t>+14.2%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7574" y="2792610"/>
            <a:ext cx="34369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64748B"/>
                </a:solidFill>
                <a:latin typeface="Plus Jakarta Sans"/>
              </a:rPr>
              <a:t>UNITS SOLD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7574" y="3087885"/>
            <a:ext cx="3436999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0F172A"/>
                </a:solidFill>
                <a:latin typeface="Space Grotesk"/>
              </a:rPr>
              <a:t>12,450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7574" y="3783210"/>
            <a:ext cx="3436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Across All Product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6824" y="2792610"/>
            <a:ext cx="34369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64748B"/>
                </a:solidFill>
                <a:latin typeface="Plus Jakarta Sans"/>
              </a:rPr>
              <a:t>AVG UNIT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6824" y="3087885"/>
            <a:ext cx="3436999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0F172A"/>
                </a:solidFill>
                <a:latin typeface="Space Grotesk"/>
              </a:rPr>
              <a:t>$19.96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6824" y="3783210"/>
            <a:ext cx="3436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Stable Pricing Floor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16373"/>
            <a:ext cx="6598890" cy="2886075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51390" y="4340423"/>
            <a:ext cx="4031009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25" y="3340298"/>
            <a:ext cx="604644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3864173"/>
            <a:ext cx="604644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4388048"/>
            <a:ext cx="604644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4911923"/>
            <a:ext cx="604644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5825" y="3340298"/>
            <a:ext cx="4958060" cy="114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5825" y="3864173"/>
            <a:ext cx="3627834" cy="1143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5825" y="4388048"/>
            <a:ext cx="2418457" cy="1143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5825" y="4911923"/>
            <a:ext cx="1511498" cy="11430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390" y="2244923"/>
            <a:ext cx="4031009" cy="1905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CATEGORY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Product Sales Contribution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2692598"/>
            <a:ext cx="793595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Revenue Breakdown by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9515" y="4578548"/>
            <a:ext cx="4402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Key Finding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9515" y="4835723"/>
            <a:ext cx="365000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Electronics accounts for over 39% of total sales volume, representing the primary growth driver.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102173"/>
            <a:ext cx="2357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Electronics (Top Performer)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3140" y="3102173"/>
            <a:ext cx="904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$98,400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3626048"/>
            <a:ext cx="15835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Apparel &amp; Fashion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290" y="3626048"/>
            <a:ext cx="8477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$72,100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4149923"/>
            <a:ext cx="20359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Home Goods &amp; Kitchen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4090" y="4149923"/>
            <a:ext cx="9239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$48,000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825" y="4673798"/>
            <a:ext cx="11334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Accessories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4565" y="4673798"/>
            <a:ext cx="9334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$30,000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35460"/>
            <a:ext cx="2571750" cy="2247900"/>
          </a:xfrm>
          <a:prstGeom prst="roundRect">
            <a:avLst>
              <a:gd name="adj" fmla="val 5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854523"/>
            <a:ext cx="2571750" cy="2009775"/>
          </a:xfrm>
          <a:prstGeom prst="roundRect">
            <a:avLst>
              <a:gd name="adj" fmla="val 56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854523"/>
            <a:ext cx="2571750" cy="2009775"/>
          </a:xfrm>
          <a:prstGeom prst="roundRect">
            <a:avLst>
              <a:gd name="adj" fmla="val 56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854523"/>
            <a:ext cx="2571750" cy="2009775"/>
          </a:xfrm>
          <a:prstGeom prst="roundRect">
            <a:avLst>
              <a:gd name="adj" fmla="val 56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27783" y="3068835"/>
            <a:ext cx="877341" cy="361950"/>
          </a:xfrm>
          <a:prstGeom prst="roundRect">
            <a:avLst>
              <a:gd name="adj" fmla="val 1052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GEOGRAPHIC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Regional Sales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640335"/>
            <a:ext cx="2524125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2563EB"/>
                </a:solidFill>
                <a:latin typeface="Space Grotesk"/>
              </a:rPr>
              <a:t>$92,300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192785"/>
            <a:ext cx="2114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Highest sales volume with strong demand for consumer electronics.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6175" y="3130748"/>
            <a:ext cx="26503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South Region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6175" y="3521273"/>
            <a:ext cx="2524125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$64,100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6175" y="4073723"/>
            <a:ext cx="2114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Consistent revenue growth driven by apparel and seasonal retail lines.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3130748"/>
            <a:ext cx="26503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East Region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521273"/>
            <a:ext cx="2524125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$51,800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4073723"/>
            <a:ext cx="2114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Moderate performance with emerging market expansion opportunities.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6875" y="3130748"/>
            <a:ext cx="26503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West 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6875" y="3521273"/>
            <a:ext cx="2524125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$40,300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6875" y="4073723"/>
            <a:ext cx="2114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Target region for strategic sales campaigns and inventory re-allocation.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3011685"/>
            <a:ext cx="1299068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North Region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983" y="3106935"/>
            <a:ext cx="8201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Plus Jakarta Sans"/>
              </a:rPr>
              <a:t>BEST REGION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5825" y="5021460"/>
            <a:ext cx="104203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5825" y="5021460"/>
            <a:ext cx="104203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18170"/>
            <a:ext cx="10972800" cy="5082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TEMPORAL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Monthly Sales Trajectory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5192910"/>
            <a:ext cx="1607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First Month: $18,000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8175" y="5192910"/>
            <a:ext cx="3524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Overall Trend: Increasing Velocity (+88.8%)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44050" y="5192910"/>
            <a:ext cx="2202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Peak Month: June ($34,000)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20094"/>
            <a:ext cx="5314950" cy="1553021"/>
          </a:xfrm>
          <a:prstGeom prst="roundRect">
            <a:avLst>
              <a:gd name="adj" fmla="val 73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163615"/>
            <a:ext cx="5314950" cy="1135260"/>
          </a:xfrm>
          <a:prstGeom prst="roundRect">
            <a:avLst>
              <a:gd name="adj" fmla="val 100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04925" y="4677965"/>
            <a:ext cx="1874936" cy="1905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2487810"/>
            <a:ext cx="263842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2924919"/>
            <a:ext cx="1769864" cy="35287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401615"/>
            <a:ext cx="96440" cy="95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6365" y="3401615"/>
            <a:ext cx="96440" cy="95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PREDICTIVE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Linear Regression Model Mechanics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0465" y="5078610"/>
            <a:ext cx="65889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Scikit-learn Linear Regression engine fitting historical sales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696319"/>
            <a:ext cx="5953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REGRESSION EQUATION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353990"/>
            <a:ext cx="4857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Where represents sales revenue and denotes the indexed month integer.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401740"/>
            <a:ext cx="63507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Model Safeguard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677965"/>
            <a:ext cx="4933950" cy="3827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Utilizes to guarantee non-negative forecasting outputs.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2075" y="4697015"/>
            <a:ext cx="222937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0F172A"/>
                </a:solidFill>
                <a:latin typeface="monospace"/>
              </a:rPr>
              <a:t>np.maximum(predict, 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73535"/>
            <a:ext cx="5257800" cy="2571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849760"/>
            <a:ext cx="5410200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719" y="4197548"/>
            <a:ext cx="152400" cy="133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719" y="4635698"/>
            <a:ext cx="152400" cy="133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719" y="3759398"/>
            <a:ext cx="152400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719" y="3759398"/>
            <a:ext cx="152400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719" y="4197548"/>
            <a:ext cx="15240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719" y="4635698"/>
            <a:ext cx="152400" cy="1333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47725" y="3183135"/>
          <a:ext cx="4781549" cy="17240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05694"/>
                <a:gridCol w="1333946"/>
                <a:gridCol w="1941909"/>
              </a:tblGrid>
              <a:tr h="431006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Target Month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Forecast Revenue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100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2026-07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Forecast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$36,200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100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2026-08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Forecast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$39,100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100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2026-09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Forecast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$42,000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FUTURE ESTIMATES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Forecast Sales Output (3-Month Horizon)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811660"/>
            <a:ext cx="62757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Projected Revenue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3164085"/>
            <a:ext cx="57054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Plus Jakarta Sans"/>
              </a:rPr>
              <a:t>TOTAL FORECAST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392685"/>
            <a:ext cx="5705475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$117,300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4126110"/>
            <a:ext cx="4876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Estimated cumulative revenue across the next 3 projection months based on underlying linear velocity trends.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8810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68823"/>
            <a:ext cx="350520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68810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45035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45048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145035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787" y="3249810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3349823"/>
            <a:ext cx="1905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3249810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ACTIONABLE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Business 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67843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Stock Prioritization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973710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Scale Electronics inventory levels to prevent stockouts in top performing channels.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778448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Regional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4073723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Replicate North region promotional tactics in West territory to boost sales volume.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678435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Forecast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973710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Incorporate model predictions into monthly supply chain procurement schedules.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730055"/>
            <a:ext cx="106680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785169"/>
            <a:ext cx="3403550" cy="1487685"/>
          </a:xfrm>
          <a:prstGeom prst="roundRect">
            <a:avLst>
              <a:gd name="adj" fmla="val 640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94150" y="2785169"/>
            <a:ext cx="3403550" cy="1487685"/>
          </a:xfrm>
          <a:prstGeom prst="roundRect">
            <a:avLst>
              <a:gd name="adj" fmla="val 640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785169"/>
            <a:ext cx="3403550" cy="1487685"/>
          </a:xfrm>
          <a:prstGeom prst="roundRect">
            <a:avLst>
              <a:gd name="adj" fmla="val 640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473005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023294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3023294"/>
            <a:ext cx="2857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425" y="3023294"/>
            <a:ext cx="20002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1708844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994594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8FAFC"/>
                </a:solidFill>
                <a:latin typeface="Space Grotesk"/>
              </a:rPr>
              <a:t>Future Enhancements &amp;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968180"/>
            <a:ext cx="3857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PS-03: Sales Forecasting &amp; Business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72650" y="4968180"/>
            <a:ext cx="2071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366194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Advanced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3661469"/>
            <a:ext cx="30225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Upgrade to ARIMA, Prophet, or XGBoost for complex seasonal patterns.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275" y="3366194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Real-Time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275" y="3661469"/>
            <a:ext cx="30225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Connect direct API feeds to automatically ingest point-of-sale transactions.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4425" y="3366194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Automated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4425" y="3661469"/>
            <a:ext cx="30225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Trigger automated notifications when actual sales deviate from predictions.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6822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https://globaldata365.com/wp-content/uploads/2021/06/Store-Sales-Analysis-2-1.webp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2571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globaldata365.com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9750"/>
            <a:ext cx="6905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https://www.blog.trainindata.com/wp-content/uploads/2024/03/image_12-1024x545.png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9775"/>
            <a:ext cx="3178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www.blog.trainindata.com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